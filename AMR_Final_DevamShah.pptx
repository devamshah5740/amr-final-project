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Black"/>
      <p:bold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Black-bold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Blac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0674348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0674348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06743487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06743487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0aeea1a2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0aeea1a2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4d49b8c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04d49b8c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4d49b8c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4d49b8c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04d49b8c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04d49b8c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04d49b8c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04d49b8c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4d49b8c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04d49b8c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06743487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06743487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04d49b8c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04d49b8c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4d49b8c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04d49b8c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04d49b8c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04d49b8c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04d49b8c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04d49b8c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4" name="Google Shape;34;p6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42" name="Google Shape;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53" name="Google Shape;5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65" name="Google Shape;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8" name="Google Shape;6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2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72" name="Google Shape;7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08" name="Google Shape;10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3" name="Google Shape;11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Relationship Id="rId6" Type="http://schemas.openxmlformats.org/officeDocument/2006/relationships/image" Target="../media/image10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Nkgdog2YZhMbXeYiNPYZU0iLHzwH5_S7/view" TargetMode="External"/><Relationship Id="rId4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zL8aWpIfcnOMn1wlBOcZtGt3QEO6bIuU/view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C0zhBrx4W-xN7LdIw8LMZlUpZ_JGaiQU/view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DevamShah5740/AMR-Final-Projec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516450" y="1042250"/>
            <a:ext cx="8111100" cy="7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Autonomous Mobile Robots</a:t>
            </a:r>
            <a:endParaRPr sz="3800"/>
          </a:p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Devam Shah - ds7855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16th December 2025</a:t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2031150" y="1914150"/>
            <a:ext cx="50817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 Wheel Differential Drive Robot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Foundation of all advanced platforms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2 Active wheels and 1 passive wheels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 chose the two-wheeled differential drive robot because it is simple in design and control, cost-effective, and widely used in real-world AMRs.</a:t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310825" y="165275"/>
            <a:ext cx="86217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Why 3 Wheel Differential Drive Robot?</a:t>
            </a:r>
            <a:endParaRPr sz="29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9" name="Google Shape;129;p22" title="B-AMR-Wheels-Differential-Wheels-750x56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75" y="1056938"/>
            <a:ext cx="3093426" cy="315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818300" y="62825"/>
            <a:ext cx="55074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Modelling</a:t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7300" y="868325"/>
            <a:ext cx="3959400" cy="3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1 ] KINEMATICS:- </a:t>
            </a:r>
            <a:b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Wheel Radius = r</a:t>
            </a:r>
            <a:b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Distance Between Wheels = 2b</a:t>
            </a:r>
            <a:b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Lin. and Ang. Velocity is given as:</a:t>
            </a:r>
            <a:endParaRPr sz="1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00" y="2479800"/>
            <a:ext cx="20764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0262" y="2422650"/>
            <a:ext cx="187637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3"/>
          <p:cNvCxnSpPr/>
          <p:nvPr/>
        </p:nvCxnSpPr>
        <p:spPr>
          <a:xfrm>
            <a:off x="4257875" y="893025"/>
            <a:ext cx="0" cy="21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9" name="Google Shape;139;p23" title="tcon_a_1585576_f0001_ob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2375" y="3264275"/>
            <a:ext cx="3959400" cy="178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/>
          <p:nvPr/>
        </p:nvSpPr>
        <p:spPr>
          <a:xfrm>
            <a:off x="4289050" y="806825"/>
            <a:ext cx="4733700" cy="3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2] DYNAMICS:-</a:t>
            </a:r>
            <a:b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9725" y="1319223"/>
            <a:ext cx="1674087" cy="852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22425" y="1278988"/>
            <a:ext cx="240030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1395600" y="124325"/>
            <a:ext cx="635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Methodology</a:t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156300" y="930025"/>
            <a:ext cx="8831400" cy="3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Controller Design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It Ensures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1) Smooth motion</a:t>
            </a:r>
            <a:b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2) Reduced steady-state error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3) Robustness to disturbances</a:t>
            </a:r>
            <a:endParaRPr sz="1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600" y="2459500"/>
            <a:ext cx="6267600" cy="2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1395600" y="124325"/>
            <a:ext cx="635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Methodology</a:t>
            </a:r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156300" y="930025"/>
            <a:ext cx="8831400" cy="3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Stability Design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Closed-loop system ensures bounded velocity error</a:t>
            </a:r>
            <a:b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Lyapunov candidate:</a:t>
            </a:r>
            <a:b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With proper gain selection :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600" y="1780550"/>
            <a:ext cx="1011877" cy="62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8025" y="2571750"/>
            <a:ext cx="67627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/>
          <p:nvPr/>
        </p:nvSpPr>
        <p:spPr>
          <a:xfrm>
            <a:off x="653725" y="3489300"/>
            <a:ext cx="539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System is </a:t>
            </a: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asymptotically stable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 in velocity tracking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/>
        </p:nvSpPr>
        <p:spPr>
          <a:xfrm>
            <a:off x="1558500" y="152950"/>
            <a:ext cx="6027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Testing &amp; Validation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64" name="Google Shape;164;p26" title="KinematicsLinea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3300" y="971350"/>
            <a:ext cx="6177402" cy="356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/>
        </p:nvSpPr>
        <p:spPr>
          <a:xfrm>
            <a:off x="1558500" y="152950"/>
            <a:ext cx="6027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Testing &amp; Validation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70" name="Google Shape;170;p27" title="kinematicsangula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7275" y="979350"/>
            <a:ext cx="6191950" cy="35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/>
        </p:nvSpPr>
        <p:spPr>
          <a:xfrm>
            <a:off x="1994100" y="152950"/>
            <a:ext cx="51558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Motion Planning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656200" y="1139700"/>
            <a:ext cx="7857000" cy="3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Global Planning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Waypoint-based navigation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Local planning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Reactive obstacle avoidance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Robot respects</a:t>
            </a:r>
            <a:b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Non-holonomic constraints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Maximum wheel velocity limits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/>
        </p:nvSpPr>
        <p:spPr>
          <a:xfrm>
            <a:off x="1525350" y="276275"/>
            <a:ext cx="60933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Obstacle Avoidance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508175" y="1090375"/>
            <a:ext cx="8523300" cy="3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Method used:</a:t>
            </a:r>
            <a:endParaRPr b="1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Artificial Potential Fields / Reactive control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Attractive force:</a:t>
            </a:r>
            <a:endParaRPr b="1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Repulsive force:</a:t>
            </a:r>
            <a:endParaRPr b="1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Combined force → desired heading and velocity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650" y="2007650"/>
            <a:ext cx="2423769" cy="4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4200" y="2400000"/>
            <a:ext cx="1220550" cy="66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1438950" y="214625"/>
            <a:ext cx="62661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Obstacle Avoidance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90" name="Google Shape;190;p30" title="ObstacleAvoidanc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250" y="1008500"/>
            <a:ext cx="62661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2287100" y="165275"/>
            <a:ext cx="47679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Key Principles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705150" y="1312400"/>
            <a:ext cx="77337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Continuous control (no discrete jumps)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Real-time response to obstacles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Smooth curvature paths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Compatible with differential drive constraints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/>
        </p:nvSpPr>
        <p:spPr>
          <a:xfrm>
            <a:off x="2747850" y="202275"/>
            <a:ext cx="36483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Challenges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705150" y="1016375"/>
            <a:ext cx="77337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Caster wheel causing minor drift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Oscillations near obstacles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Slow convergence in tight spaces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3258000" y="2275775"/>
            <a:ext cx="26280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Solution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705150" y="3154625"/>
            <a:ext cx="77337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Velocity damping near goal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Tuned control gains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Minimum velocity threshold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/>
        </p:nvSpPr>
        <p:spPr>
          <a:xfrm>
            <a:off x="1408050" y="189950"/>
            <a:ext cx="63279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Results &amp; Conclusion</a:t>
            </a:r>
            <a:endParaRPr sz="42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705150" y="1030850"/>
            <a:ext cx="77337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Developed a complete kinematic and control model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Successfully implemented motion planning and obstacle avoidance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System demonstrates stable and reliable navigation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Suitable for real-world mobile robot applications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3764100" y="3396950"/>
            <a:ext cx="16158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GitHub Link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/>
        </p:nvSpPr>
        <p:spPr>
          <a:xfrm>
            <a:off x="2098650" y="1512150"/>
            <a:ext cx="49467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THANKYOU</a:t>
            </a:r>
            <a:endParaRPr sz="60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